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0"/>
            <a:ext cx="2286000" cy="73152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486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22C5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AXVEER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Automate Your Moving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Business. Scale Without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Adding Headcount.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31520" y="34747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AI-powered automation and full IT support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for US moving companies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4663440"/>
            <a:ext cx="13716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axveer.com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2C5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Sales Team Can't Keep Up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365760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" cy="128016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96596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920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Missed Calls = Lost Revenue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463040" y="22860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unanswered call is a customer who books with your competitor.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54880" y="1737360"/>
            <a:ext cx="365760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737360"/>
            <a:ext cx="54864" cy="128016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96596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0" y="1920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 Staff Turnover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486400" y="22860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Training new sales reps costs thousands. They leave, and you start from scratch.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31520" y="3291840"/>
            <a:ext cx="365760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31520" y="3291840"/>
            <a:ext cx="54864" cy="128016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52044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63040" y="3474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Inconsistent Quoting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463040" y="38404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 reps give different prices. Customers lose trust and shop around.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754880" y="3291840"/>
            <a:ext cx="365760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754880" y="3291840"/>
            <a:ext cx="54864" cy="128016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352044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486400" y="3474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Can't Scale Affordably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5486400" y="38404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More trucks means more calls means more hires. The math never works in your favor.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2C5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Smart Moving Quote Form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intelligent quote calculator that lives on your website. Customers get accurate pricing in seconds — no phone call needed, no staff required.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5146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43000" y="24688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Instant price based on distance, volume, stairs, and extras</a:t>
            </a:r>
            <a:endParaRPr lang="en-US" sz="11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063240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43000" y="301752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Available 24/7 — captures leads while your office is closed</a:t>
            </a:r>
            <a:endParaRPr lang="en-US" sz="11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61188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43000" y="35661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Consistent pricing every time, no human error</a:t>
            </a:r>
            <a:endParaRPr lang="en-US" sz="11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16052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143000" y="41148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Embeds directly on your website, no app needed</a:t>
            </a:r>
            <a:endParaRPr lang="en-US" sz="1100" dirty="0"/>
          </a:p>
        </p:txBody>
      </p:sp>
      <p:sp>
        <p:nvSpPr>
          <p:cNvPr id="13" name="Shape 7"/>
          <p:cNvSpPr/>
          <p:nvPr/>
        </p:nvSpPr>
        <p:spPr>
          <a:xfrm>
            <a:off x="5486400" y="457200"/>
            <a:ext cx="3291840" cy="4297680"/>
          </a:xfrm>
          <a:prstGeom prst="rect">
            <a:avLst/>
          </a:prstGeom>
          <a:solidFill>
            <a:srgbClr val="F0F0F0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4" name="Shape 8"/>
          <p:cNvSpPr/>
          <p:nvPr/>
        </p:nvSpPr>
        <p:spPr>
          <a:xfrm>
            <a:off x="5486400" y="457200"/>
            <a:ext cx="3291840" cy="502920"/>
          </a:xfrm>
          <a:prstGeom prst="rect">
            <a:avLst/>
          </a:prstGeom>
          <a:solidFill>
            <a:srgbClr val="15679B"/>
          </a:solidFill>
          <a:ln/>
        </p:spPr>
      </p:sp>
      <p:sp>
        <p:nvSpPr>
          <p:cNvPr id="15" name="Text 9"/>
          <p:cNvSpPr/>
          <p:nvPr/>
        </p:nvSpPr>
        <p:spPr>
          <a:xfrm>
            <a:off x="5623560" y="530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Moovers — Instant Quote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5623560" y="1097280"/>
            <a:ext cx="219456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1"/>
          <p:cNvSpPr/>
          <p:nvPr/>
        </p:nvSpPr>
        <p:spPr>
          <a:xfrm>
            <a:off x="5715000" y="11155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size is your current home?</a:t>
            </a:r>
            <a:endParaRPr lang="en-US" sz="800" dirty="0"/>
          </a:p>
        </p:txBody>
      </p:sp>
      <p:sp>
        <p:nvSpPr>
          <p:cNvPr id="18" name="Shape 12"/>
          <p:cNvSpPr/>
          <p:nvPr/>
        </p:nvSpPr>
        <p:spPr>
          <a:xfrm>
            <a:off x="6492240" y="1508760"/>
            <a:ext cx="2103120" cy="292608"/>
          </a:xfrm>
          <a:prstGeom prst="rect">
            <a:avLst/>
          </a:prstGeom>
          <a:solidFill>
            <a:srgbClr val="15679B"/>
          </a:solidFill>
          <a:ln/>
        </p:spPr>
      </p:sp>
      <p:sp>
        <p:nvSpPr>
          <p:cNvPr id="19" name="Text 13"/>
          <p:cNvSpPr/>
          <p:nvPr/>
        </p:nvSpPr>
        <p:spPr>
          <a:xfrm>
            <a:off x="6583680" y="15270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BR</a:t>
            </a:r>
            <a:endParaRPr lang="en-US" sz="800" dirty="0"/>
          </a:p>
        </p:txBody>
      </p:sp>
      <p:sp>
        <p:nvSpPr>
          <p:cNvPr id="20" name="Shape 14"/>
          <p:cNvSpPr/>
          <p:nvPr/>
        </p:nvSpPr>
        <p:spPr>
          <a:xfrm>
            <a:off x="5623560" y="1874520"/>
            <a:ext cx="219456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5"/>
          <p:cNvSpPr/>
          <p:nvPr/>
        </p:nvSpPr>
        <p:spPr>
          <a:xfrm>
            <a:off x="5715000" y="18928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the pickup address?</a:t>
            </a:r>
            <a:endParaRPr lang="en-US" sz="800" dirty="0"/>
          </a:p>
        </p:txBody>
      </p:sp>
      <p:sp>
        <p:nvSpPr>
          <p:cNvPr id="22" name="Shape 16"/>
          <p:cNvSpPr/>
          <p:nvPr/>
        </p:nvSpPr>
        <p:spPr>
          <a:xfrm>
            <a:off x="6492240" y="2286000"/>
            <a:ext cx="2103120" cy="292608"/>
          </a:xfrm>
          <a:prstGeom prst="rect">
            <a:avLst/>
          </a:prstGeom>
          <a:solidFill>
            <a:srgbClr val="15679B"/>
          </a:solidFill>
          <a:ln/>
        </p:spPr>
      </p:sp>
      <p:sp>
        <p:nvSpPr>
          <p:cNvPr id="23" name="Text 17"/>
          <p:cNvSpPr/>
          <p:nvPr/>
        </p:nvSpPr>
        <p:spPr>
          <a:xfrm>
            <a:off x="6583680" y="23042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123 Main St, Dallas, TX</a:t>
            </a:r>
            <a:endParaRPr lang="en-US" sz="800" dirty="0"/>
          </a:p>
        </p:txBody>
      </p:sp>
      <p:sp>
        <p:nvSpPr>
          <p:cNvPr id="24" name="Shape 18"/>
          <p:cNvSpPr/>
          <p:nvPr/>
        </p:nvSpPr>
        <p:spPr>
          <a:xfrm>
            <a:off x="5623560" y="2651760"/>
            <a:ext cx="219456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19"/>
          <p:cNvSpPr/>
          <p:nvPr/>
        </p:nvSpPr>
        <p:spPr>
          <a:xfrm>
            <a:off x="5715000" y="267004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are you moving to?</a:t>
            </a:r>
            <a:endParaRPr lang="en-US" sz="800" dirty="0"/>
          </a:p>
        </p:txBody>
      </p:sp>
      <p:sp>
        <p:nvSpPr>
          <p:cNvPr id="26" name="Shape 20"/>
          <p:cNvSpPr/>
          <p:nvPr/>
        </p:nvSpPr>
        <p:spPr>
          <a:xfrm>
            <a:off x="6492240" y="3063240"/>
            <a:ext cx="2103120" cy="292608"/>
          </a:xfrm>
          <a:prstGeom prst="rect">
            <a:avLst/>
          </a:prstGeom>
          <a:solidFill>
            <a:srgbClr val="15679B"/>
          </a:solidFill>
          <a:ln/>
        </p:spPr>
      </p:sp>
      <p:sp>
        <p:nvSpPr>
          <p:cNvPr id="27" name="Text 21"/>
          <p:cNvSpPr/>
          <p:nvPr/>
        </p:nvSpPr>
        <p:spPr>
          <a:xfrm>
            <a:off x="6583680" y="3081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456 Oak Ave, Austin, TX</a:t>
            </a:r>
            <a:endParaRPr lang="en-US" sz="800" dirty="0"/>
          </a:p>
        </p:txBody>
      </p:sp>
      <p:sp>
        <p:nvSpPr>
          <p:cNvPr id="28" name="Shape 22"/>
          <p:cNvSpPr/>
          <p:nvPr/>
        </p:nvSpPr>
        <p:spPr>
          <a:xfrm>
            <a:off x="5623560" y="3474720"/>
            <a:ext cx="3017520" cy="10972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9" name="Text 23"/>
          <p:cNvSpPr/>
          <p:nvPr/>
        </p:nvSpPr>
        <p:spPr>
          <a:xfrm>
            <a:off x="5760720" y="35204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Estimate</a:t>
            </a:r>
            <a:endParaRPr lang="en-US" sz="800" dirty="0"/>
          </a:p>
        </p:txBody>
      </p:sp>
      <p:sp>
        <p:nvSpPr>
          <p:cNvPr id="30" name="Text 24"/>
          <p:cNvSpPr/>
          <p:nvPr/>
        </p:nvSpPr>
        <p:spPr>
          <a:xfrm>
            <a:off x="5760720" y="3749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$1,850 – $2,340</a:t>
            </a:r>
            <a:endParaRPr lang="en-US" sz="1800" dirty="0"/>
          </a:p>
        </p:txBody>
      </p:sp>
      <p:sp>
        <p:nvSpPr>
          <p:cNvPr id="31" name="Text 25"/>
          <p:cNvSpPr/>
          <p:nvPr/>
        </p:nvSpPr>
        <p:spPr>
          <a:xfrm>
            <a:off x="5760720" y="411480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BR • Dallas → Austin • 195 mi</a:t>
            </a:r>
            <a:endParaRPr lang="en-US" sz="700" dirty="0"/>
          </a:p>
        </p:txBody>
      </p:sp>
      <p:sp>
        <p:nvSpPr>
          <p:cNvPr id="32" name="Text 26"/>
          <p:cNvSpPr/>
          <p:nvPr/>
        </p:nvSpPr>
        <p:spPr>
          <a:xfrm>
            <a:off x="5760720" y="4297680"/>
            <a:ext cx="91440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2C5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 Now</a:t>
            </a:r>
            <a:endParaRPr lang="en-US" sz="700" dirty="0"/>
          </a:p>
        </p:txBody>
      </p:sp>
      <p:sp>
        <p:nvSpPr>
          <p:cNvPr id="33" name="Text 27"/>
          <p:cNvSpPr/>
          <p:nvPr/>
        </p:nvSpPr>
        <p:spPr>
          <a:xfrm>
            <a:off x="5486400" y="4892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demo: chiliec.github.io/moovers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2C5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SUBSCRIPTION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Monthly Plan. Everything You Need.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417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Website, AI voice agent, and booking — managed for you under one subscription.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606040" cy="2834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920240"/>
            <a:ext cx="2606040" cy="5486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488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$300–$500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/mo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77240" y="306324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Mobile-first website refresh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Basic SEO setup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Ongoing maintenance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29000" y="1920240"/>
            <a:ext cx="2606040" cy="2834640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29000" y="1920240"/>
            <a:ext cx="260604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2" name="Shape 10"/>
          <p:cNvSpPr/>
          <p:nvPr/>
        </p:nvSpPr>
        <p:spPr>
          <a:xfrm>
            <a:off x="3977640" y="2057400"/>
            <a:ext cx="1508760" cy="256032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3977640" y="205740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POPULAR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657600" y="24231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Growth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57600" y="27889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C5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$700–$900</a:t>
            </a:r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/mo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657600" y="333756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 website redesign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Booking + analytics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Quote form automation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09360" y="1920240"/>
            <a:ext cx="2606040" cy="2834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1920240"/>
            <a:ext cx="2606040" cy="54864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9" name="Text 17"/>
          <p:cNvSpPr/>
          <p:nvPr/>
        </p:nvSpPr>
        <p:spPr>
          <a:xfrm>
            <a:off x="6537960" y="21488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37960" y="2514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</a:t>
            </a:r>
            <a:pPr indent="0" marL="0">
              <a:buNone/>
            </a:pP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537960" y="306324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in Growth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24/7 AI Voice Agent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Dedicated support + integrations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Add-ons: marketing platform, Google Calendar sync, WhatsApp management, SEO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2C5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CONCIERGE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Dedicated Phone Line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 Never Goes to Voicemail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18745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customers call a real phone number. Our AI answers instantly, handles the conversation naturally, collects move details, and gives an accurate quote — all without a human on the line.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2743200"/>
            <a:ext cx="3657600" cy="2011680"/>
          </a:xfrm>
          <a:prstGeom prst="rect">
            <a:avLst/>
          </a:prstGeom>
          <a:solidFill>
            <a:srgbClr val="111111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92608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926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Inbound Calls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347472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Answers every call on the first ring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Provides real-time quotes over the phone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Books on-site estimates automatically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Routes urgent calls to your team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54880" y="2743200"/>
            <a:ext cx="3657600" cy="2011680"/>
          </a:xfrm>
          <a:prstGeom prst="rect">
            <a:avLst/>
          </a:prstGeom>
          <a:solidFill>
            <a:srgbClr val="111111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926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577840" y="2926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Outbound Calls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5029200" y="347472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Follows up on pending quotes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Confirms bookings and move details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Collects post-move reviews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Upsells packing and storage services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2C5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First Quote to Full Automation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78408" y="2240280"/>
            <a:ext cx="54864" cy="292608"/>
          </a:xfrm>
          <a:prstGeom prst="rect">
            <a:avLst/>
          </a:prstGeom>
          <a:solidFill>
            <a:srgbClr val="22C55E">
              <a:alpha val="4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1709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Smart Quote Form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54480" y="19842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Automated moving quote calculator on your website. Captures leads around the clock.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2532888"/>
            <a:ext cx="548640" cy="54864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532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78408" y="3081528"/>
            <a:ext cx="54864" cy="292608"/>
          </a:xfrm>
          <a:prstGeom prst="rect">
            <a:avLst/>
          </a:prstGeom>
          <a:solidFill>
            <a:srgbClr val="16A34A">
              <a:alpha val="4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1554480" y="25511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Concierge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54480" y="282549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Answers every phone call, schedules estimates, and routes urgent requests. Replaces front-desk staff.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374136"/>
            <a:ext cx="548640" cy="5486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3741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78408" y="3922776"/>
            <a:ext cx="54864" cy="292608"/>
          </a:xfrm>
          <a:prstGeom prst="rect">
            <a:avLst/>
          </a:prstGeom>
          <a:solidFill>
            <a:srgbClr val="000000">
              <a:alpha val="4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1554480" y="33924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Sales Team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54480" y="3666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Outbound calls, follow-ups, and upsells. Closes deals without human reps.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4215384"/>
            <a:ext cx="548640" cy="548640"/>
          </a:xfrm>
          <a:prstGeom prst="ellipse">
            <a:avLst/>
          </a:prstGeom>
          <a:solidFill>
            <a:srgbClr val="374151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2153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554480" y="42336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CRM &amp; Accounting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554480" y="45079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customer database, invoicing, payments, and financial reporting — fully automated.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2C5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NUMBERS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Automation Means for Your Bottom 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737360"/>
            <a:ext cx="1920240" cy="2194560"/>
          </a:xfrm>
          <a:prstGeom prst="rect">
            <a:avLst/>
          </a:prstGeom>
          <a:solidFill>
            <a:srgbClr val="111111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737360"/>
            <a:ext cx="192024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0574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2C5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Reduction 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staffing costs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651760" y="1737360"/>
            <a:ext cx="1920240" cy="2194560"/>
          </a:xfrm>
          <a:prstGeom prst="rect">
            <a:avLst/>
          </a:prstGeom>
          <a:solidFill>
            <a:srgbClr val="111111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651760" y="1737360"/>
            <a:ext cx="192024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651760" y="20574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6A3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24/7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2651760" y="2926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service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availability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46320" y="1737360"/>
            <a:ext cx="1920240" cy="2194560"/>
          </a:xfrm>
          <a:prstGeom prst="rect">
            <a:avLst/>
          </a:prstGeom>
          <a:solidFill>
            <a:srgbClr val="111111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46320" y="1737360"/>
            <a:ext cx="1920240" cy="5486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20574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3x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4846320" y="2926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More leads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040880" y="1737360"/>
            <a:ext cx="1920240" cy="2194560"/>
          </a:xfrm>
          <a:prstGeom prst="rect">
            <a:avLst/>
          </a:prstGeom>
          <a:solidFill>
            <a:srgbClr val="111111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040880" y="1737360"/>
            <a:ext cx="192024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0" y="20574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2C5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&lt;2s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7040880" y="2926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Average quote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response time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4297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 Based on typical results for mid-size US moving companies (5–20 trucks)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2C5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AXVEER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Engineers Who Understand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Software and Moving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2011680"/>
            <a:ext cx="502920" cy="502920"/>
          </a:xfrm>
          <a:prstGeom prst="ellipse">
            <a:avLst/>
          </a:prstGeom>
          <a:solidFill>
            <a:srgbClr val="22C55E">
              <a:alpha val="15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084832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Global Brain Trust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417320" y="2331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Elite engineers and strategists from Axveer's managed talent network.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846320" y="2011680"/>
            <a:ext cx="502920" cy="502920"/>
          </a:xfrm>
          <a:prstGeom prst="ellipse">
            <a:avLst/>
          </a:prstGeom>
          <a:solidFill>
            <a:srgbClr val="22C55E">
              <a:alpha val="15000"/>
            </a:srgb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9472" y="2084832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53212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Industry Expertise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532120" y="2331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already built a production-grade quote system. We know your business.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31520" y="3383280"/>
            <a:ext cx="502920" cy="502920"/>
          </a:xfrm>
          <a:prstGeom prst="ellipse">
            <a:avLst/>
          </a:prstGeom>
          <a:solidFill>
            <a:srgbClr val="22C55E">
              <a:alpha val="15000"/>
            </a:srgbClr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456432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17320" y="3383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Full-Stack Delivery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417320" y="3703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Strategy, engineering, deployment, and support — one team, one contract.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846320" y="3383280"/>
            <a:ext cx="502920" cy="502920"/>
          </a:xfrm>
          <a:prstGeom prst="ellipse">
            <a:avLst/>
          </a:prstGeom>
          <a:solidFill>
            <a:srgbClr val="22C55E">
              <a:alpha val="15000"/>
            </a:srgbClr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472" y="3456432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532120" y="3383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Small, Scale Fast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5532120" y="3703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Begin with the quote form. Add AI voice and more as you see ROI. No lock-in.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Ready to Get Started?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can kick off deployment this week. Here's what happens next:</a:t>
            </a:r>
            <a:endParaRPr lang="en-US" sz="1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06040"/>
            <a:ext cx="27432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2560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configure your pricing model and branding</a:t>
            </a:r>
            <a:endParaRPr lang="en-US" sz="13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274320" cy="2743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71600" y="3063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quote form goes live on your site within two weeks</a:t>
            </a:r>
            <a:endParaRPr lang="en-US" sz="13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611880"/>
            <a:ext cx="274320" cy="27432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3716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Concierge phone line activates — no more missed calls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731520" y="4114800"/>
            <a:ext cx="3291840" cy="594360"/>
          </a:xfrm>
          <a:prstGeom prst="rect">
            <a:avLst/>
          </a:prstGeom>
          <a:solidFill>
            <a:srgbClr val="22C55E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1" name="Text 6"/>
          <p:cNvSpPr/>
          <p:nvPr/>
        </p:nvSpPr>
        <p:spPr>
          <a:xfrm>
            <a:off x="731520" y="41148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LET'S GET STARTED TODAY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73152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AXVEER  |  axveer.com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0" y="5029200"/>
            <a:ext cx="9144000" cy="73152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Axveer — Automation Solutions for Moving Companies</dc:title>
  <dc:subject>PptxGenJS Presentation</dc:subject>
  <dc:creator>Axveer IT</dc:creator>
  <cp:lastModifiedBy>Axveer IT</cp:lastModifiedBy>
  <cp:revision>1</cp:revision>
  <dcterms:created xsi:type="dcterms:W3CDTF">2026-04-10T14:39:58Z</dcterms:created>
  <dcterms:modified xsi:type="dcterms:W3CDTF">2026-04-10T14:39:58Z</dcterms:modified>
</cp:coreProperties>
</file>